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6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40515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685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762E"/>
                </a:solidFill>
              </a:rPr>
              <a:t>KnitCraft 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 Training Flow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23317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8D6D8"/>
                </a:solidFill>
              </a:rPr>
              <a:t>One-line terms first. Then the actual working sequence: brand → style → tech pack → PO → planning → production → QA → dispatch → reports.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233437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Setup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331720" y="3977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233437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2331720" y="411480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Execute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3886200" y="3977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233437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3886200" y="411480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Verify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5440680" y="3977640"/>
            <a:ext cx="1234440" cy="411480"/>
          </a:xfrm>
          <a:prstGeom prst="roundRect">
            <a:avLst>
              <a:gd name="adj" fmla="val 17778"/>
            </a:avLst>
          </a:prstGeom>
          <a:solidFill>
            <a:srgbClr val="233437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5440680" y="411480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Correct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FC0C4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FC0C4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TERMS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terms in one line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These are the words users should understand before touching the forms.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13232" y="219456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850392" y="231343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A7D75"/>
                </a:solidFill>
              </a:rPr>
              <a:t>Brand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2286000" y="230428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Customer/buyer label, e.g. Zara, H&amp;M, Uniqlo.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713232" y="2724912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850392" y="28437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A7D75"/>
                </a:solidFill>
              </a:rPr>
              <a:t>Style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Design/article being produced; connects design specs to orders.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713232" y="3255264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50392" y="337413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A7D75"/>
                </a:solidFill>
              </a:rPr>
              <a:t>Tech Pack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2286000" y="3364992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Full style instruction set: images, specs, measurements, samples, attachments.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13232" y="3785616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850392" y="390448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A7D75"/>
                </a:solidFill>
              </a:rPr>
              <a:t>Sample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2286000" y="3895344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Prototype/fit/PP/shipment sample used for approval and reference.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713232" y="431596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850392" y="44348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A7D75"/>
                </a:solidFill>
              </a:rPr>
              <a:t>Colorway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2286000" y="4425696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Approved color option for a style.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713232" y="484632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850392" y="49651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1A7D75"/>
                </a:solidFill>
              </a:rPr>
              <a:t>Size Spec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286000" y="495604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Measurement rule by size and point, including tolerance.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199632" y="219456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336792" y="231343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9762E"/>
                </a:solidFill>
              </a:rPr>
              <a:t>Thread/Yarn Spec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7772400" y="230428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Material/count/color/process notes for production clarity.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6199632" y="2724912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6336792" y="28437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9762E"/>
                </a:solidFill>
              </a:rPr>
              <a:t>Material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7772400" y="2834640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Yarn, trim, packaging, or input item used in production.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6199632" y="3255264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6336792" y="337413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9762E"/>
                </a:solidFill>
              </a:rPr>
              <a:t>Supplier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7772400" y="3364992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Company that provides material.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6199632" y="3785616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6336792" y="390448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9762E"/>
                </a:solidFill>
              </a:rPr>
              <a:t>BOM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7772400" y="3895344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Bill of Materials: material consumption needed for one style.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199632" y="431596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6336792" y="44348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9762E"/>
                </a:solidFill>
              </a:rPr>
              <a:t>Line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7772400" y="4425696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Production line where order quantity is planned/executed.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6199632" y="484632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40"/>
          <p:cNvSpPr/>
          <p:nvPr/>
        </p:nvSpPr>
        <p:spPr>
          <a:xfrm>
            <a:off x="6336792" y="49651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E9762E"/>
                </a:solidFill>
              </a:rPr>
              <a:t>Vendor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7772400" y="495604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Outsourced factory/process partner for external work.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TERMS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terms in one line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These are the daily operating terms after master data is ready.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13232" y="219456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850392" y="231343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4267B2"/>
                </a:solidFill>
              </a:rPr>
              <a:t>PO / Order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2286000" y="230428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Buyer purchase order: style, quantity, due date, priority.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713232" y="2724912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850392" y="28437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4267B2"/>
                </a:solidFill>
              </a:rPr>
              <a:t>Planning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Assigning order quantity to line and date range.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713232" y="3255264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850392" y="337413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4267B2"/>
                </a:solidFill>
              </a:rPr>
              <a:t>Calendar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2286000" y="3364992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Date view of planned work and capacity pressure.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713232" y="3785616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850392" y="390448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4267B2"/>
                </a:solidFill>
              </a:rPr>
              <a:t>MRP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2286000" y="3895344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Material requirement planning: BOM demand minus free stock.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713232" y="431596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850392" y="44348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4267B2"/>
                </a:solidFill>
              </a:rPr>
              <a:t>Procurement Request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2286000" y="4425696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Action marker for a material shortage.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713232" y="484632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850392" y="49651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4267B2"/>
                </a:solidFill>
              </a:rPr>
              <a:t>Supplier PO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286000" y="495604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Purchase order raised to supplier for material.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199632" y="219456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336792" y="231343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3B8A5E"/>
                </a:solidFill>
              </a:rPr>
              <a:t>Goods Receipt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7772400" y="230428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Received material entry that increases stock.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6199632" y="2724912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6336792" y="28437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3B8A5E"/>
                </a:solidFill>
              </a:rPr>
              <a:t>Production Entry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7772400" y="2834640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Daily actual output by line, stage, shift, and date.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6199632" y="3255264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6336792" y="337413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3B8A5E"/>
                </a:solidFill>
              </a:rPr>
              <a:t>QA Inspection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7772400" y="3364992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Quality check with checked/approved/rejected/rework counts.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6199632" y="3785616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6336792" y="390448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3B8A5E"/>
                </a:solidFill>
              </a:rPr>
              <a:t>Defect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7772400" y="3895344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Specific quality issue counted during inspection.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199632" y="4315968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6336792" y="44348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3B8A5E"/>
                </a:solidFill>
              </a:rPr>
              <a:t>CAPA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7772400" y="4425696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Corrective action to stop repeat quality problems.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6199632" y="484632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ext 40"/>
          <p:cNvSpPr/>
          <p:nvPr/>
        </p:nvSpPr>
        <p:spPr>
          <a:xfrm>
            <a:off x="6336792" y="496519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3B8A5E"/>
                </a:solidFill>
              </a:rPr>
              <a:t>Shipment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7772400" y="4956048"/>
            <a:ext cx="3291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72326"/>
                </a:solidFill>
              </a:rPr>
              <a:t>Dispatch record with date, quantity, invoice, and delivered total.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START HERE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setup flow: create brand, supplier, vendor, material, line, style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Do this before creating a PO. Bad master data creates bad planning, MRP, QA, and reports.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77824" y="2359152"/>
            <a:ext cx="329184" cy="329184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778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167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Go to Masters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3167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Open Masters from the left menu.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535424" y="2359152"/>
            <a:ext cx="329184" cy="329184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5354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743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Brand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9743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Create buyer/customer name and code.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8193024" y="2359152"/>
            <a:ext cx="329184" cy="329184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1930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319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Supplier + Vendor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6319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Supplier gives materials; vendor handles outsourced work.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77824" y="3547872"/>
            <a:ext cx="329184" cy="329184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8778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16736" y="35021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Materials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316736" y="375818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Create yarn/trim/packing items with stock and reorder level.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333756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535424" y="3547872"/>
            <a:ext cx="329184" cy="32918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5354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74336" y="35021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Lines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974336" y="375818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Create production lines and capacity rules.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46720" y="333756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8193024" y="3547872"/>
            <a:ext cx="329184" cy="329184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81930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631936" y="35021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Style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631936" y="375818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Connect brand, code, yarn, sizes, colors.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22960" y="489204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EF1E5"/>
          </a:solidFill>
          <a:ln w="10160">
            <a:solidFill>
              <a:srgbClr val="F0C6A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1051560" y="5074920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72326"/>
                </a:solidFill>
              </a:rPr>
              <a:t>Rule: add the style only after brand/material basics exist, because BOM and tech-pack depend on clean style data.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STYLE SETUP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add style specs, images, BOM, and sample details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This is the design/technical record. It should be complete before production starts.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77824" y="2359152"/>
            <a:ext cx="329184" cy="329184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778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16736" y="2313432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Open Masters → Styles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316736" y="256946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Create or edit the style.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535424" y="2359152"/>
            <a:ext cx="329184" cy="329184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5354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74336" y="2313432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Fill core style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974336" y="256946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Code, brand, name, gauge, yarn, sizes, colors.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8193024" y="2359152"/>
            <a:ext cx="329184" cy="329184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1930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31936" y="2313432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Tech Pack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631936" y="256946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Upload sample/reference images and PDF attachments.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77824" y="3547872"/>
            <a:ext cx="329184" cy="329184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8778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16736" y="3502152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Measurements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316736" y="37581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Size label, point, target, tolerance, unit.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333756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535424" y="3547872"/>
            <a:ext cx="329184" cy="32918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5354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74336" y="3502152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Thread Specs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974336" y="37581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Material/count/color reference/supplier/process notes.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46720" y="333756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8193024" y="3547872"/>
            <a:ext cx="329184" cy="329184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81930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631936" y="3502152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BOM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631936" y="37581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Material consumption required for this style.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60120" y="5001768"/>
            <a:ext cx="82296" cy="82296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1124712" y="49377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26"/>
                </a:solidFill>
              </a:rPr>
              <a:t>Upload allowed: JPG, PNG, WebP, PDF. Keep images useful: sample, thread, color, measurements, and approval references.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ORDER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add a PO after style is ready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Orders are where business demand enters the system.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77824" y="2359152"/>
            <a:ext cx="329184" cy="329184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778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167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Go to Orders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3167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Click Orders → New Order.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535424" y="2359152"/>
            <a:ext cx="329184" cy="329184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5354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743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Select Brand + Style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9743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Choose the buyer and article/design.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8193024" y="2359152"/>
            <a:ext cx="329184" cy="329184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1930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319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Enter PO details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6319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PO number, season, quantity, due date, priority.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333756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77824" y="3547872"/>
            <a:ext cx="329184" cy="329184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8778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16736" y="35021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Add allocation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316736" y="375818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Enter size and color split if needed.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333756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535424" y="3547872"/>
            <a:ext cx="329184" cy="32918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5354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74336" y="35021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Save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974336" y="375818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System creates the order and detail page.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46720" y="333756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8193024" y="3547872"/>
            <a:ext cx="329184" cy="329184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8193024" y="362102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631936" y="35021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Verify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631936" y="375818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Open order detail and check tech-pack visibility.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68680" y="489204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1097280" y="5102352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172326"/>
                </a:solidFill>
              </a:rPr>
              <a:t>Purpose: PO drives planning, MRP, production targets, QA context, dispatch balance, dashboard totals, and reports.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PLAN + MATERIAL CHECK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turn a PO into production-ready work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Planning and MRP should be checked before production starts.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2743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32104" y="2359152"/>
            <a:ext cx="329184" cy="329184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3210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71016" y="231343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Open Planning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271016" y="256946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Select order, line, dates, planned quantity.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11880" y="2148840"/>
            <a:ext cx="2743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3758184" y="2359152"/>
            <a:ext cx="329184" cy="329184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375818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197096" y="231343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Check Calendar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97096" y="256946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Look for overlaps, delays, and capacity pressure.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37960" y="2148840"/>
            <a:ext cx="2743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6684264" y="2359152"/>
            <a:ext cx="329184" cy="329184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668426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23176" y="231343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Open MRP / Reports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7123176" y="256946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Check material shortage from BOM and stock.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464040" y="2148840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9610344" y="2359152"/>
            <a:ext cx="329184" cy="329184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961034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049256" y="231343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Create Request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0049256" y="2569464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If shortage exists, create procurement request.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965960" y="3474720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2112264" y="3685032"/>
            <a:ext cx="329184" cy="32918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2112264" y="375818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51176" y="36393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Create Supplier PO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2551176" y="389534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Buy missing material from linked supplier.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74920" y="3474720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5221224" y="3685032"/>
            <a:ext cx="329184" cy="329184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5221224" y="375818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60136" y="36393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Receive Goods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660136" y="389534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Goods receipt increases stock and closes material loop.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183880" y="3474720"/>
            <a:ext cx="28803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hape 37"/>
          <p:cNvSpPr/>
          <p:nvPr/>
        </p:nvSpPr>
        <p:spPr>
          <a:xfrm>
            <a:off x="8330184" y="3685032"/>
            <a:ext cx="329184" cy="329184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8330184" y="375818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769096" y="36393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Re-check MRP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8769096" y="3895344"/>
            <a:ext cx="2130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Shortage should reduce or clear after receipt.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EXECUTION 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daily production, QA, and dispatch work together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Use this as the daily operating sequence after planning is approved.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77824" y="2359152"/>
            <a:ext cx="329184" cy="329184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778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167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Production Entry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3167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Record actual qty, rejected qty, line, stage, shift, date.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535424" y="2359152"/>
            <a:ext cx="329184" cy="329184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5354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743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QA Inspection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9743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Record checked, approved, rejected, rework, defects.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8193024" y="2359152"/>
            <a:ext cx="329184" cy="329184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1930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319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CAPA if needed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6319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Create corrective action for repeat/high-risk issues.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342900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877824" y="3639312"/>
            <a:ext cx="329184" cy="329184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877824" y="371246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16736" y="35935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Dispatch Shipment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316736" y="384962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Enter dispatch date, quantity, invoice number.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342900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535424" y="3639312"/>
            <a:ext cx="329184" cy="32918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535424" y="371246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74336" y="35935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Correct shipment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974336" y="384962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Edit date/qty/invoice if needed; system recalculates totals.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46720" y="342900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Shape 32"/>
          <p:cNvSpPr/>
          <p:nvPr/>
        </p:nvSpPr>
        <p:spPr>
          <a:xfrm>
            <a:off x="8193024" y="3639312"/>
            <a:ext cx="329184" cy="329184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8193024" y="371246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631936" y="359359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Status updates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8631936" y="384962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Partial remains ready; full quantity becomes dispatched.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60120" y="5111496"/>
            <a:ext cx="82296" cy="82296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1124712" y="504748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72326"/>
                </a:solidFill>
              </a:rPr>
              <a:t>Do not hide mistakes with duplicate records. Use edit/correction when the original event needs fixing.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0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0E5"/>
          </a:solidFill>
          <a:ln w="12700">
            <a:solidFill>
              <a:srgbClr val="F7F0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D8CDB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A7D75"/>
                </a:solidFill>
              </a:rPr>
              <a:t>REPORTS + DASHBOARD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verify that work is correct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57277"/>
                </a:solidFill>
              </a:rPr>
              <a:t>The dashboard is the quick read. Reports are the proof behind it.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877824" y="2359152"/>
            <a:ext cx="329184" cy="329184"/>
          </a:xfrm>
          <a:prstGeom prst="ellipse">
            <a:avLst/>
          </a:prstGeom>
          <a:solidFill>
            <a:srgbClr val="1A7D75"/>
          </a:solidFill>
          <a:ln w="1270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8778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167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Open Dashboard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3167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Check total orders, units planned, in production, completed, OTIF, rejection %.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535424" y="2359152"/>
            <a:ext cx="329184" cy="329184"/>
          </a:xfrm>
          <a:prstGeom prst="ellipse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5354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743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Open Reports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9743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Use order status, management summary, MRP, production, procurement, CAPA, tech-pack register.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429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8193024" y="2359152"/>
            <a:ext cx="329184" cy="329184"/>
          </a:xfrm>
          <a:prstGeom prst="ellipse">
            <a:avLst/>
          </a:prstGeom>
          <a:solidFill>
            <a:srgbClr val="4267B2"/>
          </a:solidFill>
          <a:ln w="12700">
            <a:solidFill>
              <a:srgbClr val="4267B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8193024" y="24323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31936" y="23134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Export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631936" y="2569464"/>
            <a:ext cx="2679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Use CSV for spreadsheet work; PDF for controlled sharing.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20240" y="3520440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2066544" y="3730752"/>
            <a:ext cx="329184" cy="329184"/>
          </a:xfrm>
          <a:prstGeom prst="ellipse">
            <a:avLst/>
          </a:prstGeom>
          <a:solidFill>
            <a:srgbClr val="B84A3F"/>
          </a:solidFill>
          <a:ln w="12700">
            <a:solidFill>
              <a:srgbClr val="B84A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2066544" y="38039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05456" y="36850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Investigate mismatch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2505456" y="3941064"/>
            <a:ext cx="3136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Wrong dashboard number means check transactional source: orders, production, QA, dispatch, inventory.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55080" y="3520440"/>
            <a:ext cx="38862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6501384" y="3730752"/>
            <a:ext cx="329184" cy="329184"/>
          </a:xfrm>
          <a:prstGeom prst="ellipse">
            <a:avLst/>
          </a:prstGeom>
          <a:solidFill>
            <a:srgbClr val="3B8A5E"/>
          </a:solidFill>
          <a:ln w="12700">
            <a:solidFill>
              <a:srgbClr val="3B8A5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6501384" y="3803904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40296" y="36850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72326"/>
                </a:solidFill>
              </a:rPr>
              <a:t>Fix source data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940296" y="3941064"/>
            <a:ext cx="3136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Correct original screen, then re-check dashboard/report.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68680" y="5074920"/>
            <a:ext cx="10378440" cy="438912"/>
          </a:xfrm>
          <a:prstGeom prst="roundRect">
            <a:avLst>
              <a:gd name="adj" fmla="val 16667"/>
            </a:avLst>
          </a:prstGeom>
          <a:solidFill>
            <a:srgbClr val="233437"/>
          </a:solidFill>
          <a:ln w="10160">
            <a:solidFill>
              <a:srgbClr val="23343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1097280" y="5230368"/>
            <a:ext cx="9784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</a:rPr>
              <a:t>Rule: never edit reports; reports reflect what users entered in workflow screens.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7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277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26"/>
          </a:solidFill>
          <a:ln w="12700">
            <a:solidFill>
              <a:srgbClr val="17232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9762E"/>
          </a:solidFill>
          <a:ln w="1270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40515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4D2D5"/>
                </a:solidFill>
              </a:rPr>
              <a:t>CHEAT SHEET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896112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working flow in one line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76656" y="160020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B7C8CB"/>
                </a:solidFill>
              </a:rPr>
              <a:t>Train users to follow this sequence every time.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1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Brand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097280" y="253288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who buys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2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931920" y="22860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Style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931920" y="253288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what to make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263640" y="21488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400800" y="23317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3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766560" y="22860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Tech Pack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766560" y="253288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how to make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9098280" y="21488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4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601200" y="22860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BOM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601200" y="253288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what material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594360" y="310896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731520" y="32918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5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097280" y="32461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097280" y="34930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how much + when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3429000" y="310896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3566160" y="32918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6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931920" y="32461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Planning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931920" y="34930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where + when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6263640" y="310896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6400800" y="32918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7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766560" y="32461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MRP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66560" y="34930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material gaps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9098280" y="310896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Text 35"/>
          <p:cNvSpPr/>
          <p:nvPr/>
        </p:nvSpPr>
        <p:spPr>
          <a:xfrm>
            <a:off x="9235440" y="329184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8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9601200" y="32461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Production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9601200" y="349300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actual output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594360" y="406908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Text 39"/>
          <p:cNvSpPr/>
          <p:nvPr/>
        </p:nvSpPr>
        <p:spPr>
          <a:xfrm>
            <a:off x="731520" y="42519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9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1097280" y="420624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QA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1097280" y="445312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quality result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3429000" y="406908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33437"/>
          </a:solidFill>
          <a:ln w="10160">
            <a:solidFill>
              <a:srgbClr val="1A7D7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Text 43"/>
          <p:cNvSpPr/>
          <p:nvPr/>
        </p:nvSpPr>
        <p:spPr>
          <a:xfrm>
            <a:off x="3566160" y="42519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10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931920" y="420624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Dispatch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3931920" y="445312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delivered qty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6263640" y="406908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2E4548"/>
          </a:solidFill>
          <a:ln w="10160">
            <a:solidFill>
              <a:srgbClr val="E976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Text 47"/>
          <p:cNvSpPr/>
          <p:nvPr/>
        </p:nvSpPr>
        <p:spPr>
          <a:xfrm>
            <a:off x="6400800" y="4251960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2B84B"/>
                </a:solidFill>
              </a:rPr>
              <a:t>11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6766560" y="420624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Reports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6766560" y="4453128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B7C8CB"/>
                </a:solidFill>
              </a:rPr>
              <a:t>proof</a:t>
            </a:r>
            <a:endParaRPr lang="en-US" sz="710" dirty="0"/>
          </a:p>
        </p:txBody>
      </p:sp>
      <p:sp>
        <p:nvSpPr>
          <p:cNvPr id="52" name="Text 50"/>
          <p:cNvSpPr/>
          <p:nvPr/>
        </p:nvSpPr>
        <p:spPr>
          <a:xfrm>
            <a:off x="731520" y="555955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If something looks wrong, fix the earliest source record in the flow.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66928" y="65288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FC0C4"/>
                </a:solidFill>
              </a:rPr>
              <a:t>KnitCraft MES short training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320272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AFC0C4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1254</Words>
  <Application>Microsoft Macintosh PowerPoint</Application>
  <PresentationFormat>Widescreen</PresentationFormat>
  <Paragraphs>259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YK Apparel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KnitCraft MES Short Training Flow</dc:title>
  <dc:subject>Short operator training flow</dc:subject>
  <dc:creator>KnitCraft MES</dc:creator>
  <cp:lastModifiedBy>Muhammad Mudassar</cp:lastModifiedBy>
  <cp:revision>1</cp:revision>
  <dcterms:created xsi:type="dcterms:W3CDTF">2026-06-10T07:28:26Z</dcterms:created>
  <dcterms:modified xsi:type="dcterms:W3CDTF">2026-06-10T09:26:09Z</dcterms:modified>
</cp:coreProperties>
</file>