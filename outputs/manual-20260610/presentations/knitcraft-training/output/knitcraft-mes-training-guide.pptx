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opening slide. Explain that this deck is for operators and managers learning the live application, not a conceptual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training around responsibilities. The goal is confidence: users should know where to perform work and where to verify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login page, then explain that roles are operational controls, not just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orient new users. Every screen should be explained as part of this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users that dashboard metrics reconcile with reports and transactional data. It is the top-level verification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training section for style/design data. Emphasize that correct tech pack data reduces rework.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creating an order and opening its detail page. Highlight that edits must preserve delivered quantity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planners where to correct root data rather than patching around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shortage-to-procurement loop. This is the minimum purchasing workflow now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production teams, stress speed and accuracy. Production actuals drive downstream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QA screen, then CAPA list. Explain why defect rows and CAPA records need consistent naming.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module is for operational follow-up and risk context. Train users to use detail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important for dispatch users. Explain correction path and why duplicate shipments should be avoided.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reports page and explain export choices. Tie reports back to reconciliation and release smoke.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admins that settings changes affect permissions and reporting, so changes should be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owners/admins. Keep it simple: what service owns what and what to check when something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practice. The system becomes useful when teams use it as a rhythm, not a filing cabinet.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4051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FC0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18872"/>
            <a:ext cx="12191695" cy="6739128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09728"/>
            <a:ext cx="5148072" cy="6748272"/>
          </a:xfrm>
          <a:prstGeom prst="rect">
            <a:avLst/>
          </a:prstGeom>
          <a:solidFill>
            <a:srgbClr val="233437"/>
          </a:solidFill>
          <a:ln w="12700">
            <a:solidFill>
              <a:srgbClr val="2334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11480"/>
            <a:ext cx="0" cy="5806440"/>
          </a:xfrm>
          <a:prstGeom prst="line">
            <a:avLst/>
          </a:prstGeom>
          <a:noFill/>
          <a:ln w="13970">
            <a:solidFill>
              <a:srgbClr val="E9762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99248" y="411480"/>
            <a:ext cx="0" cy="5806440"/>
          </a:xfrm>
          <a:prstGeom prst="line">
            <a:avLst/>
          </a:prstGeom>
          <a:noFill/>
          <a:ln w="13970">
            <a:solidFill>
              <a:srgbClr val="36515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74736" y="411480"/>
            <a:ext cx="0" cy="5806440"/>
          </a:xfrm>
          <a:prstGeom prst="line">
            <a:avLst/>
          </a:prstGeom>
          <a:noFill/>
          <a:ln w="13970">
            <a:solidFill>
              <a:srgbClr val="E9762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50224" y="411480"/>
            <a:ext cx="0" cy="5806440"/>
          </a:xfrm>
          <a:prstGeom prst="line">
            <a:avLst/>
          </a:prstGeom>
          <a:noFill/>
          <a:ln w="13970">
            <a:solidFill>
              <a:srgbClr val="36515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25712" y="411480"/>
            <a:ext cx="0" cy="5806440"/>
          </a:xfrm>
          <a:prstGeom prst="line">
            <a:avLst/>
          </a:prstGeom>
          <a:noFill/>
          <a:ln w="13970">
            <a:solidFill>
              <a:srgbClr val="E9762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0" y="411480"/>
            <a:ext cx="0" cy="5806440"/>
          </a:xfrm>
          <a:prstGeom prst="line">
            <a:avLst/>
          </a:prstGeom>
          <a:noFill/>
          <a:ln w="13970">
            <a:solidFill>
              <a:srgbClr val="36515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76688" y="411480"/>
            <a:ext cx="0" cy="5806440"/>
          </a:xfrm>
          <a:prstGeom prst="line">
            <a:avLst/>
          </a:prstGeom>
          <a:noFill/>
          <a:ln w="13970">
            <a:solidFill>
              <a:srgbClr val="E9762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52176" y="411480"/>
            <a:ext cx="0" cy="5806440"/>
          </a:xfrm>
          <a:prstGeom prst="line">
            <a:avLst/>
          </a:prstGeom>
          <a:noFill/>
          <a:ln w="13970">
            <a:solidFill>
              <a:srgbClr val="36515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27664" y="411480"/>
            <a:ext cx="0" cy="5806440"/>
          </a:xfrm>
          <a:prstGeom prst="line">
            <a:avLst/>
          </a:prstGeom>
          <a:noFill/>
          <a:ln w="13970">
            <a:solidFill>
              <a:srgbClr val="E9762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768096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731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7D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ENABLEMENT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1234440"/>
            <a:ext cx="5897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KnitCraft MES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Training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85800" y="306324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6D8"/>
                </a:solidFill>
              </a:rPr>
              <a:t>A practical guide for day-to-day factory execution: masters, orders, planning, production, QA, dispatch, inventory, reports, and admin controls.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" y="44074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4944" y="48371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074"/>
                </a:solidFill>
              </a:rPr>
              <a:t>core app areas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377440" y="44074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377440" y="48371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074"/>
                </a:solidFill>
              </a:rPr>
              <a:t>shared workflow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160520" y="44074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60520" y="4837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074"/>
                </a:solidFill>
              </a:rPr>
              <a:t>data-backed system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85800" y="5943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B1B4"/>
                </a:solidFill>
              </a:rPr>
              <a:t>YK Apparel • Training deck • Working software state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FC0C4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PROMISE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the end, users know what to enter, where to check, and how data moves.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The software is organized around a single manufacturing flow from style setup through dispatch and reporting.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106527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060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7D75"/>
                </a:solidFill>
              </a:rPr>
              <a:t>Factory Admin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258775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Sets masters, users, roles, departments, shifts, and reporting hygiene.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218688"/>
            <a:ext cx="10652760" cy="512064"/>
          </a:xfrm>
          <a:prstGeom prst="roundRect">
            <a:avLst>
              <a:gd name="adj" fmla="val 14286"/>
            </a:avLst>
          </a:prstGeom>
          <a:solidFill>
            <a:srgbClr val="FFF9E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558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7D75"/>
                </a:solidFill>
              </a:rPr>
              <a:t>Merchandising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333756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Creates orders and keeps style, size, color, and due-date data clean.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968496"/>
            <a:ext cx="106527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10565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7D75"/>
                </a:solidFill>
              </a:rPr>
              <a:t>Planning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408736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Allocates orders to lines and dates; watches capacity and conflicts.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718304"/>
            <a:ext cx="10652760" cy="512064"/>
          </a:xfrm>
          <a:prstGeom prst="roundRect">
            <a:avLst>
              <a:gd name="adj" fmla="val 14286"/>
            </a:avLst>
          </a:prstGeom>
          <a:solidFill>
            <a:srgbClr val="FFF9E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85546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7D75"/>
                </a:solidFill>
              </a:rPr>
              <a:t>Production / QA / Dispatch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483717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Records actuals, inspections, CAPA, shipments, and corrections.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the right role; the menus and write actions follow permissions.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Use the seeded admin for training, then switch to role-specific accounts for department walkthroughs.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7552" y="25968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6"/>
                </a:solidFill>
              </a:rPr>
              <a:t>Training login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3163824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309067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Email: rohit@knitcraft.in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" y="3557016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48386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Password: demo1234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" y="3950208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387705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Role: Admin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2880360" cy="2377440"/>
          </a:xfrm>
          <a:prstGeom prst="roundRect">
            <a:avLst>
              <a:gd name="adj" fmla="val 3077"/>
            </a:avLst>
          </a:prstGeom>
          <a:solidFill>
            <a:srgbClr val="FEF1E5"/>
          </a:solidFill>
          <a:ln w="10160">
            <a:solidFill>
              <a:srgbClr val="F0C6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5968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6"/>
                </a:solidFill>
              </a:rPr>
              <a:t>Role switching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83480" y="3163824"/>
            <a:ext cx="91440" cy="9144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309067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Header role selector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983480" y="3557016"/>
            <a:ext cx="91440" cy="9144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348386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Use to review UX by role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983480" y="3950208"/>
            <a:ext cx="91440" cy="9144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387705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Writes remain permission checked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863840" y="233172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EF7F5"/>
          </a:solidFill>
          <a:ln w="10160">
            <a:solidFill>
              <a:srgbClr val="BBD9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5968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6"/>
                </a:solidFill>
              </a:rPr>
              <a:t>Good practice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38160" y="3163824"/>
            <a:ext cx="91440" cy="91440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309067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Do not share admin credentials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138160" y="3557016"/>
            <a:ext cx="91440" cy="91440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348386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Create named users in Settings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8138160" y="3950208"/>
            <a:ext cx="91440" cy="91440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387705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Keep shift/department current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MAP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left menu follows the factory lifecycle.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Train users to think in flow order: prepare data, plan, execute, inspect, dispatch, then report.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1A7D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2916936"/>
            <a:ext cx="310896" cy="310896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9900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88720" y="2935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Masters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2944368"/>
            <a:ext cx="320040" cy="256032"/>
          </a:xfrm>
          <a:prstGeom prst="chevron">
            <a:avLst/>
          </a:prstGeom>
          <a:solidFill>
            <a:srgbClr val="D8CDBD"/>
          </a:solidFill>
          <a:ln w="12700">
            <a:solidFill>
              <a:srgbClr val="D8C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743200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E976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95728" y="2916936"/>
            <a:ext cx="310896" cy="310896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29900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88920" y="2935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Orders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2944368"/>
            <a:ext cx="320040" cy="256032"/>
          </a:xfrm>
          <a:prstGeom prst="chevron">
            <a:avLst/>
          </a:prstGeom>
          <a:solidFill>
            <a:srgbClr val="D8CDBD"/>
          </a:solidFill>
          <a:ln w="12700">
            <a:solidFill>
              <a:srgbClr val="D8C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743200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4267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95928" y="2916936"/>
            <a:ext cx="310896" cy="310896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95928" y="29900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89120" y="2935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Planning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2944368"/>
            <a:ext cx="320040" cy="256032"/>
          </a:xfrm>
          <a:prstGeom prst="chevron">
            <a:avLst/>
          </a:prstGeom>
          <a:solidFill>
            <a:srgbClr val="D8CDBD"/>
          </a:solidFill>
          <a:ln w="12700">
            <a:solidFill>
              <a:srgbClr val="D8CD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2743200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3B8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916936"/>
            <a:ext cx="310896" cy="310896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29900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89320" y="2935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Production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2944368"/>
            <a:ext cx="320040" cy="256032"/>
          </a:xfrm>
          <a:prstGeom prst="chevron">
            <a:avLst/>
          </a:prstGeom>
          <a:solidFill>
            <a:srgbClr val="D8CDBD"/>
          </a:solidFill>
          <a:ln w="12700">
            <a:solidFill>
              <a:srgbClr val="D8CD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86600" y="2743200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B84A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6328" y="2916936"/>
            <a:ext cx="310896" cy="310896"/>
          </a:xfrm>
          <a:prstGeom prst="ellipse">
            <a:avLst/>
          </a:prstGeom>
          <a:solidFill>
            <a:srgbClr val="B84A3F"/>
          </a:solidFill>
          <a:ln w="12700">
            <a:solidFill>
              <a:srgbClr val="B84A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96328" y="29900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589520" y="2935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QA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75320" y="2944368"/>
            <a:ext cx="320040" cy="256032"/>
          </a:xfrm>
          <a:prstGeom prst="chevron">
            <a:avLst/>
          </a:prstGeom>
          <a:solidFill>
            <a:srgbClr val="D8CDBD"/>
          </a:solidFill>
          <a:ln w="12700">
            <a:solidFill>
              <a:srgbClr val="D8CD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0" y="2743200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F2B84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96528" y="2916936"/>
            <a:ext cx="310896" cy="310896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96528" y="29900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189720" y="2935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Dispatch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875520" y="2944368"/>
            <a:ext cx="320040" cy="256032"/>
          </a:xfrm>
          <a:prstGeom prst="chevron">
            <a:avLst/>
          </a:prstGeom>
          <a:solidFill>
            <a:srgbClr val="D8CDBD"/>
          </a:solidFill>
          <a:ln w="12700">
            <a:solidFill>
              <a:srgbClr val="D8CDB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87000" y="2743200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1723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96728" y="2916936"/>
            <a:ext cx="310896" cy="310896"/>
          </a:xfrm>
          <a:prstGeom prst="ellipse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96728" y="29900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789920" y="2935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Reports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4400" y="4206240"/>
            <a:ext cx="10241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88720" y="4480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26"/>
                </a:solidFill>
              </a:rPr>
              <a:t>Support modules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834640" y="4407408"/>
            <a:ext cx="124358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44368" y="448056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762E"/>
                </a:solidFill>
              </a:rPr>
              <a:t>Inventory &amp; MRP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325112" y="4407408"/>
            <a:ext cx="124358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448056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D75"/>
                </a:solidFill>
              </a:rPr>
              <a:t>Vendors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15584" y="4407408"/>
            <a:ext cx="124358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25312" y="448056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762E"/>
                </a:solidFill>
              </a:rPr>
              <a:t>Calendar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306056" y="4407408"/>
            <a:ext cx="124358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15784" y="448056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D75"/>
                </a:solidFill>
              </a:rPr>
              <a:t>Settings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796528" y="4407408"/>
            <a:ext cx="124358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06256" y="448056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762E"/>
                </a:solidFill>
              </a:rPr>
              <a:t>Desktop sync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4051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FC0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18872"/>
            <a:ext cx="12191695" cy="6739128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-502920"/>
            <a:ext cx="5303520" cy="5303520"/>
          </a:xfrm>
          <a:prstGeom prst="arc">
            <a:avLst/>
          </a:prstGeom>
          <a:solidFill>
            <a:srgbClr val="172326">
              <a:alpha val="0"/>
            </a:srgbClr>
          </a:solidFill>
          <a:ln w="25400">
            <a:solidFill>
              <a:srgbClr val="2D484A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56032"/>
            <a:ext cx="3840480" cy="3840480"/>
          </a:xfrm>
          <a:prstGeom prst="arc">
            <a:avLst/>
          </a:prstGeom>
          <a:solidFill>
            <a:srgbClr val="172326">
              <a:alpha val="0"/>
            </a:srgbClr>
          </a:solidFill>
          <a:ln w="25400">
            <a:solidFill>
              <a:srgbClr val="E9762E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996696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7D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1444752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Dashboard: read the factory pulse before clicking into work.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694944" y="2743200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6"/>
                </a:solidFill>
              </a:rPr>
              <a:t>Use Dashboard as a morning command center, not as a data-entry page.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" y="3767328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33437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84048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762E"/>
                </a:solidFill>
              </a:rPr>
              <a:t>KPIs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9464" y="3767328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33437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384048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84B"/>
                </a:solidFill>
              </a:rPr>
              <a:t>Trends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43984" y="3767328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33437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384048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762E"/>
                </a:solidFill>
              </a:rPr>
              <a:t>Escalations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318504" y="3767328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33437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84048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84B"/>
                </a:solidFill>
              </a:rPr>
              <a:t>Reports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FC0C4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numbers are checks, not decorations.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Use this page to spot broken flow: late orders, low capacity, rising defects, or vendor risk.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871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26"/>
                </a:solidFill>
              </a:rPr>
              <a:t>Total Orders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074"/>
                </a:solidFill>
              </a:rPr>
              <a:t>Volume under control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97680" y="233172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7F5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4871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26"/>
                </a:solidFill>
              </a:rPr>
              <a:t>Units Planned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80560" y="2715768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074"/>
                </a:solidFill>
              </a:rPr>
              <a:t>Demand committed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863840" y="233172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4871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26"/>
                </a:solidFill>
              </a:rPr>
              <a:t>In Production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0" y="2715768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074"/>
                </a:solidFill>
              </a:rPr>
              <a:t>Current WIP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7F5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93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26"/>
                </a:solidFill>
              </a:rPr>
              <a:t>Completed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3721608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074"/>
                </a:solidFill>
              </a:rPr>
              <a:t>Delivered quantity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0" y="333756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493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26"/>
                </a:solidFill>
              </a:rPr>
              <a:t>OTIF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0" y="3721608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074"/>
                </a:solidFill>
              </a:rPr>
              <a:t>On-time delivery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863840" y="333756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7F5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3493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26"/>
                </a:solidFill>
              </a:rPr>
              <a:t>Rejection 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3721608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074"/>
                </a:solidFill>
              </a:rPr>
              <a:t>Quality pressure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22960" y="4754880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FEF1E5"/>
          </a:solidFill>
          <a:ln w="10160">
            <a:solidFill>
              <a:srgbClr val="F0C6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9560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326"/>
                </a:solidFill>
              </a:rPr>
              <a:t>Training habit: if a KPI looks wrong, trace it back through Orders, Production, QA, Dispatch, or Reports before changing master data.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MASTERS + TECH PACK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clean style record prevents errors all the way to dispatch.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Masters are the operational dictionary: brands, styles, materials, vendors, BOM, lines, and rich style specs.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48716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A7D75"/>
                </a:solidFill>
              </a:rPr>
              <a:t>Style core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2331720" y="2487168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F3A3D"/>
                </a:solidFill>
              </a:rPr>
              <a:t>Code, brand, name, gauge, yarn, sizes, colors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77240" y="3044952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9E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0040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A7D75"/>
                </a:solidFill>
              </a:rPr>
              <a:t>Tech pack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2331720" y="3200400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F3A3D"/>
                </a:solidFill>
              </a:rPr>
              <a:t>Images, attachments, samples, measurements, thread specs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7240" y="3758184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91363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A7D75"/>
                </a:solidFill>
              </a:rPr>
              <a:t>BOM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2331720" y="3913632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F3A3D"/>
                </a:solidFill>
              </a:rPr>
              <a:t>Material requirement per style with consumption logic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7240" y="4471416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9E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62686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A7D75"/>
                </a:solidFill>
              </a:rPr>
              <a:t>Lines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2331720" y="4626864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F3A3D"/>
                </a:solidFill>
              </a:rPr>
              <a:t>Production line capacity and assignment readiness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400800" y="2240280"/>
            <a:ext cx="4526280" cy="3108960"/>
          </a:xfrm>
          <a:prstGeom prst="roundRect">
            <a:avLst>
              <a:gd name="adj" fmla="val 2353"/>
            </a:avLst>
          </a:prstGeom>
          <a:solidFill>
            <a:srgbClr val="233437"/>
          </a:solidFill>
          <a:ln w="10160">
            <a:solidFill>
              <a:srgbClr val="2334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Upload rules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48272" y="313639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06324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CE7E8"/>
                </a:solidFill>
              </a:rPr>
              <a:t>Allowed: JPG, PNG, WebP, PDF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748272" y="3520440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44728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CE7E8"/>
                </a:solidFill>
              </a:rPr>
              <a:t>Max size: 10 MB by default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748272" y="3904488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383133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CE7E8"/>
                </a:solidFill>
              </a:rPr>
              <a:t>Files stored in R2/S3; metadata stays in DB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6748272" y="4288536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421538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CE7E8"/>
                </a:solidFill>
              </a:rPr>
              <a:t>Use sample images for style clarity, not random references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PO should carry enough detail to plan and execute without guesswork.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Orders connect brand, style, due date, quantity, priority, size allocation, and color allocation.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E976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688336"/>
            <a:ext cx="310896" cy="310896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7614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325880" y="270662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Create PO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251460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1A7D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38728" y="2688336"/>
            <a:ext cx="310896" cy="310896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27614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931920" y="270662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Validate allocations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51460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4267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2688336"/>
            <a:ext cx="310896" cy="310896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7614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37960" y="270662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Review detail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41080" y="251460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3B8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50808" y="2688336"/>
            <a:ext cx="310896" cy="310896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0808" y="27614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144000" y="270662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Track delivery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0120" y="405079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" y="3977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Use exact PO number and season code.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0120" y="4398264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61288" y="4325112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Due date drives planning and delay reporting.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60120" y="4745736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1288" y="467258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Size/color allocations should add to meaningful production percentages.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60120" y="5093208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61288" y="5020056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Order detail shows shipment, tech-pack, and progress context.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Planning is where demand becomes dated capacity.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Use board and calendar views to allocate orders to lines without overloading production windows.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633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6"/>
                </a:solidFill>
              </a:rPr>
              <a:t>Planner checklist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43000" y="3200400"/>
            <a:ext cx="91440" cy="91440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4168" y="31272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Select order and production line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1143000" y="3529584"/>
            <a:ext cx="91440" cy="91440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4168" y="345643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Set start/end date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143000" y="3858768"/>
            <a:ext cx="91440" cy="91440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4168" y="378561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Enter planned quantity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1143000" y="4187952"/>
            <a:ext cx="91440" cy="91440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4168" y="41148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Check overlap and capacity warnings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1143000" y="4517136"/>
            <a:ext cx="91440" cy="91440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4168" y="44439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Review calendar for bottlenecks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400800" y="2331720"/>
            <a:ext cx="4526280" cy="2926080"/>
          </a:xfrm>
          <a:prstGeom prst="roundRect">
            <a:avLst>
              <a:gd name="adj" fmla="val 2500"/>
            </a:avLst>
          </a:prstGeom>
          <a:solidFill>
            <a:srgbClr val="EEF7F5"/>
          </a:solidFill>
          <a:ln w="10160">
            <a:solidFill>
              <a:srgbClr val="BBD9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633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6"/>
                </a:solidFill>
              </a:rPr>
              <a:t>Do not use planning to hide bad data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20840" y="3200400"/>
            <a:ext cx="91440" cy="91440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312724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Wrong quantity? fix order.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720840" y="3584448"/>
            <a:ext cx="91440" cy="91440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22008" y="351129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Wrong capacity? fix line master.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720840" y="3968496"/>
            <a:ext cx="91440" cy="91440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2008" y="389534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Wrong material math? check BOM/MRP.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720840" y="4352544"/>
            <a:ext cx="91440" cy="91440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22008" y="427939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Wrong due date? confirm with merchandising.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+ MRP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Shortage visibility becomes procurement action.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MRP compares open demand, BOM consumption, stock, and allocation to show what needs action.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9077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6"/>
                </a:solidFill>
              </a:rPr>
              <a:t>Demand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3218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074"/>
                </a:solidFill>
              </a:rPr>
              <a:t>Open orders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3054096"/>
            <a:ext cx="292608" cy="201168"/>
          </a:xfrm>
          <a:prstGeom prst="chevron">
            <a:avLst/>
          </a:prstGeom>
          <a:solidFill>
            <a:srgbClr val="D8CDBD"/>
          </a:solidFill>
          <a:ln w="12700">
            <a:solidFill>
              <a:srgbClr val="D8C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6974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36392" y="29077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6"/>
                </a:solidFill>
              </a:rPr>
              <a:t>BOM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36392" y="3218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074"/>
                </a:solidFill>
              </a:rPr>
              <a:t>Material need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0" y="3054096"/>
            <a:ext cx="292608" cy="201168"/>
          </a:xfrm>
          <a:prstGeom prst="chevron">
            <a:avLst/>
          </a:prstGeom>
          <a:solidFill>
            <a:srgbClr val="D8CDBD"/>
          </a:solidFill>
          <a:ln w="12700">
            <a:solidFill>
              <a:srgbClr val="D8C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26974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29077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6"/>
                </a:solidFill>
              </a:rPr>
              <a:t>Stock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85232" y="3218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074"/>
                </a:solidFill>
              </a:rPr>
              <a:t>Free qty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20840" y="3054096"/>
            <a:ext cx="292608" cy="201168"/>
          </a:xfrm>
          <a:prstGeom prst="chevron">
            <a:avLst/>
          </a:prstGeom>
          <a:solidFill>
            <a:srgbClr val="D8CDBD"/>
          </a:solidFill>
          <a:ln w="12700">
            <a:solidFill>
              <a:srgbClr val="D8CD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26974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EF1E5"/>
          </a:solidFill>
          <a:ln w="10160">
            <a:solidFill>
              <a:srgbClr val="E976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29077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62E"/>
                </a:solidFill>
              </a:rPr>
              <a:t>Shortage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34072" y="3218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074"/>
                </a:solidFill>
              </a:rPr>
              <a:t>Gap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869680" y="3054096"/>
            <a:ext cx="292608" cy="201168"/>
          </a:xfrm>
          <a:prstGeom prst="chevron">
            <a:avLst/>
          </a:prstGeom>
          <a:solidFill>
            <a:srgbClr val="D8CDBD"/>
          </a:solidFill>
          <a:ln w="12700">
            <a:solidFill>
              <a:srgbClr val="D8CD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26974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82912" y="29077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6"/>
                </a:solidFill>
              </a:rPr>
              <a:t>Request / PO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82912" y="3218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074"/>
                </a:solidFill>
              </a:rPr>
              <a:t>Action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0120" y="455371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1288" y="4480560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Create procurement request only for positive shortage.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960120" y="487375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1288" y="4800600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Use supplier-linked material records for cleaner purchasing.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60120" y="519379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61288" y="5120640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Goods receipt increases stock and closes the loop.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60120" y="551383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61288" y="5440680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MRP/report totals are part of the release smoke checks.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Actual entries are the operating truth for stage performance.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Record output by date, shift, line, stage, actual quantity, rejected quantity, and downtime context.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44805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33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6"/>
                </a:solidFill>
              </a:rPr>
              <a:t>Entry discipline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8992" y="3200400"/>
            <a:ext cx="91440" cy="91440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12724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Enter actuals daily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78992" y="3584448"/>
            <a:ext cx="91440" cy="91440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51129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Rejected qty cannot exceed actual qty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8992" y="3968496"/>
            <a:ext cx="91440" cy="91440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895344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Use downtime reasons consistently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78992" y="4352544"/>
            <a:ext cx="91440" cy="91440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427939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Line/stage accuracy matters for reports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331720"/>
            <a:ext cx="4937760" cy="3063240"/>
          </a:xfrm>
          <a:prstGeom prst="roundRect">
            <a:avLst>
              <a:gd name="adj" fmla="val 2388"/>
            </a:avLst>
          </a:prstGeom>
          <a:solidFill>
            <a:srgbClr val="233437"/>
          </a:solidFill>
          <a:ln w="10160">
            <a:solidFill>
              <a:srgbClr val="2334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633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Used by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315468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2E4548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3227832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84B"/>
                </a:solidFill>
              </a:rPr>
              <a:t>Dashboard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503920" y="315468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2E4548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3648" y="3227832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762E"/>
                </a:solidFill>
              </a:rPr>
              <a:t>Production report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55080" y="3867912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2E4548"/>
          </a:solidFill>
          <a:ln w="12700">
            <a:solidFill>
              <a:srgbClr val="B84A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3941064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4A3F"/>
                </a:solidFill>
              </a:rPr>
              <a:t>Rejection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503920" y="3867912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2E4548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13648" y="3941064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D75"/>
                </a:solidFill>
              </a:rPr>
              <a:t>Risk watchlist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+ CAPA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Inspections capture defects; CAPA keeps repeat problems visible.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QA is not just pass/fail. It records checked, approved, rejected, rework counts, defects, and corrective actions.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6243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7D75"/>
                </a:solidFill>
              </a:rPr>
              <a:t>Inspection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514600" y="26243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Date, stage, order/vendor, checked/approved/rejected/rework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22960" y="3291840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4930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7D75"/>
                </a:solidFill>
              </a:rPr>
              <a:t>Defects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514600" y="349300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Type and count breakdown, tied to the inspection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FEF1E5"/>
          </a:solidFill>
          <a:ln w="10160">
            <a:solidFill>
              <a:srgbClr val="F0C6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3616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9762E"/>
                </a:solidFill>
              </a:rPr>
              <a:t>CAPA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514600" y="436168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F3A3D"/>
                </a:solidFill>
              </a:rPr>
              <a:t>Owner, severity, due date, status, closure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14400" y="5257800"/>
            <a:ext cx="10012680" cy="457200"/>
          </a:xfrm>
          <a:prstGeom prst="roundRect">
            <a:avLst>
              <a:gd name="adj" fmla="val 16000"/>
            </a:avLst>
          </a:prstGeom>
          <a:solidFill>
            <a:srgbClr val="EEF7F5"/>
          </a:solidFill>
          <a:ln w="10160">
            <a:solidFill>
              <a:srgbClr val="BBD9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5413248"/>
            <a:ext cx="9326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326"/>
                </a:solidFill>
              </a:rPr>
              <a:t>Training rule: update the existing inspection when correcting QA counts; do not create duplicate inspections for the same event.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MANAGEMENT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Outsourced work is tracked through challans and scorecards.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Use vendor detail to understand open/partial/closed challans, quality trends, and delivery risk.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31546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633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6"/>
                </a:solidFill>
              </a:rPr>
              <a:t>Vendor list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8992" y="3227832"/>
            <a:ext cx="91440" cy="91440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15468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Contact and capability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078992" y="3639312"/>
            <a:ext cx="91440" cy="91440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5661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Scorecard summary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1078992" y="4050792"/>
            <a:ext cx="91440" cy="91440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9776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Risk indicators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526280" y="2331720"/>
            <a:ext cx="3154680" cy="2834640"/>
          </a:xfrm>
          <a:prstGeom prst="roundRect">
            <a:avLst>
              <a:gd name="adj" fmla="val 2581"/>
            </a:avLst>
          </a:prstGeom>
          <a:solidFill>
            <a:srgbClr val="FEF1E5"/>
          </a:solidFill>
          <a:ln w="10160">
            <a:solidFill>
              <a:srgbClr val="F0C6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2633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6"/>
                </a:solidFill>
              </a:rPr>
              <a:t>Challans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82312" y="322783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1546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Open, partial, closed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782312" y="363931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56616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Quantity reconciliation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782312" y="405079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9776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Outsource process tracking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229600" y="2331720"/>
            <a:ext cx="2971800" cy="2834640"/>
          </a:xfrm>
          <a:prstGeom prst="roundRect">
            <a:avLst>
              <a:gd name="adj" fmla="val 2581"/>
            </a:avLst>
          </a:prstGeom>
          <a:solidFill>
            <a:srgbClr val="EEF7F5"/>
          </a:solidFill>
          <a:ln w="10160">
            <a:solidFill>
              <a:srgbClr val="BBD9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26334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6"/>
                </a:solidFill>
              </a:rPr>
              <a:t>Review habit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85632" y="3227832"/>
            <a:ext cx="91440" cy="91440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315468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Before planning overload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485632" y="3639312"/>
            <a:ext cx="91440" cy="91440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356616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Before escalation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8485632" y="4050792"/>
            <a:ext cx="91440" cy="91440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397764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A3D"/>
                </a:solidFill>
              </a:rPr>
              <a:t>Before dispatch promise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Shipment corrections must keep delivered quantity and order status synchronized.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Dispatch supports create/edit/correction, multi-shipment safety, invoice/date updates, and over-dispatch protection.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4267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2779776"/>
            <a:ext cx="310896" cy="310896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8529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80160" y="2798064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QA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260604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F2B8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84448" y="2779776"/>
            <a:ext cx="310896" cy="310896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28529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977640" y="2798064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READY TO DISPATCH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60604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E976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2779776"/>
            <a:ext cx="310896" cy="310896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28529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675120" y="2798064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PARTIAL SHIPMENT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69680" y="260604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3B8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79408" y="2779776"/>
            <a:ext cx="310896" cy="310896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9408" y="28529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372600" y="2798064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26"/>
                </a:solidFill>
              </a:rPr>
              <a:t>DISPATCHED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20624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4526280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4168" y="44531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A3D"/>
                </a:solidFill>
              </a:rPr>
              <a:t>Shipment number stays server-owned.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1143000" y="469087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44168" y="461772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A3D"/>
                </a:solidFill>
              </a:rPr>
              <a:t>Quantity cannot exceed remaining order balance.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1143000" y="4855464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44168" y="478231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A3D"/>
                </a:solidFill>
              </a:rPr>
              <a:t>Editing earlier shipment recalculates delivered total.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1143000" y="5020056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44168" y="494690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A3D"/>
                </a:solidFill>
              </a:rPr>
              <a:t>Fully shipped order becomes DISPATCHED; partial remains ready/active.</a:t>
            </a:r>
            <a:endParaRPr lang="en-US" sz="910" dirty="0"/>
          </a:p>
        </p:txBody>
      </p:sp>
      <p:sp>
        <p:nvSpPr>
          <p:cNvPr id="35" name="Text 33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 are the audit trail behind dashboard trust.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Use CSV/PDF exports for operational review; use MRP and registers to prove numbers to managers.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56032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72326"/>
                </a:solidFill>
              </a:rPr>
              <a:t>Order status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3566160" y="2377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EEF7F5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56032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72326"/>
                </a:solidFill>
              </a:rPr>
              <a:t>Management summary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355080" y="2377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56032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72326"/>
                </a:solidFill>
              </a:rPr>
              <a:t>Material requirement planning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9144000" y="2377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EEF7F5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256032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72326"/>
                </a:solidFill>
              </a:rPr>
              <a:t>Procurement status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777240" y="331012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4930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72326"/>
                </a:solidFill>
              </a:rPr>
              <a:t>Production actuals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3566160" y="331012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EEF7F5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34930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72326"/>
                </a:solidFill>
              </a:rPr>
              <a:t>CAPA closure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355080" y="331012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4930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72326"/>
                </a:solidFill>
              </a:rPr>
              <a:t>Style tech-pack register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144000" y="331012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EEF7F5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08592" y="34930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72326"/>
                </a:solidFill>
              </a:rPr>
              <a:t>Forecast / risk watchlists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914400" y="4800600"/>
            <a:ext cx="10012680" cy="502920"/>
          </a:xfrm>
          <a:prstGeom prst="roundRect">
            <a:avLst>
              <a:gd name="adj" fmla="val 14545"/>
            </a:avLst>
          </a:prstGeom>
          <a:solidFill>
            <a:srgbClr val="233437"/>
          </a:solidFill>
          <a:ln w="10160">
            <a:solidFill>
              <a:srgbClr val="2334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983480"/>
            <a:ext cx="9418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Export rule: CSV for spreadsheet work, PDF for controlled sharing, dashboard for quick exception review.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SETTINGS + GOVERNANCE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screens are small, but they protect the whole workflow.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Settings controls departments, shifts, users, and role assignments. Keep it boring and accurate.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32004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33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D75"/>
                </a:solidFill>
              </a:rPr>
              <a:t>Departments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322783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315468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Factory structure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3611880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353872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User grouping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3995928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392277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Admin consistency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26280" y="2331720"/>
            <a:ext cx="3200400" cy="2514600"/>
          </a:xfrm>
          <a:prstGeom prst="roundRect">
            <a:avLst>
              <a:gd name="adj" fmla="val 2909"/>
            </a:avLst>
          </a:prstGeom>
          <a:solidFill>
            <a:srgbClr val="FEF1E5"/>
          </a:solidFill>
          <a:ln w="10160">
            <a:solidFill>
              <a:srgbClr val="F0C6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633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62E"/>
                </a:solidFill>
              </a:rPr>
              <a:t>Shifts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00600" y="3227832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315468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Daily production context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53872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Line reporting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995928"/>
            <a:ext cx="91440" cy="91440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392277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Schedule clarity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2331720"/>
            <a:ext cx="2971800" cy="2514600"/>
          </a:xfrm>
          <a:prstGeom prst="roundRect">
            <a:avLst>
              <a:gd name="adj" fmla="val 2909"/>
            </a:avLst>
          </a:prstGeom>
          <a:solidFill>
            <a:srgbClr val="EEF7F5"/>
          </a:solidFill>
          <a:ln w="10160">
            <a:solidFill>
              <a:srgbClr val="BBD9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2633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A5E"/>
                </a:solidFill>
              </a:rPr>
              <a:t>Users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03920" y="3227832"/>
            <a:ext cx="91440" cy="91440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05088" y="31546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Named accounts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3611880"/>
            <a:ext cx="91440" cy="91440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05088" y="353872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Role permissions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3995928"/>
            <a:ext cx="91440" cy="91440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5088" y="392277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F3A3D"/>
                </a:solidFill>
              </a:rPr>
              <a:t>Department/shift references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8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1792" y="566928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+ UPLOADS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uses Render for the app and Postgres, Cloudflare R2 for files.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074"/>
                </a:solidFill>
              </a:rPr>
              <a:t>Users do not need to understand infrastructure, but admins should know what can break and what to check.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97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88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762E"/>
                </a:solidFill>
              </a:rPr>
              <a:t>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136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074"/>
                </a:solidFill>
              </a:rPr>
              <a:t>Render Web Service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6160" y="25146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1A7D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788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D75"/>
                </a:solidFill>
              </a:rPr>
              <a:t>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136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074"/>
                </a:solidFill>
              </a:rPr>
              <a:t>Render PostgreSQL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55080" y="25146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4267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788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67B2"/>
                </a:solidFill>
              </a:rPr>
              <a:t>Uploads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136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074"/>
                </a:solidFill>
              </a:rPr>
              <a:t>Cloudflare R2 / S3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0" y="25146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3B8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788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A5E"/>
                </a:solidFill>
              </a:rPr>
              <a:t>Smoke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0" y="3136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074"/>
                </a:solidFill>
              </a:rPr>
              <a:t>verify:production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4400" y="4389120"/>
            <a:ext cx="10012680" cy="658368"/>
          </a:xfrm>
          <a:prstGeom prst="roundRect">
            <a:avLst>
              <a:gd name="adj" fmla="val 11111"/>
            </a:avLst>
          </a:prstGeom>
          <a:solidFill>
            <a:srgbClr val="FEF1E5"/>
          </a:solidFill>
          <a:ln w="10160">
            <a:solidFill>
              <a:srgbClr val="F0C6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617720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2326"/>
                </a:solidFill>
              </a:rPr>
              <a:t>Admin check: if uploads fail, check R2 keys and S3 env vars; if login fails, check seed and DATABASE_URL; if dashboard fails, run production smoke.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074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4051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FC0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KnitCraft MES training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18872"/>
            <a:ext cx="12191695" cy="6739128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813816"/>
            <a:ext cx="146304" cy="146304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777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7D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RHYTHM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the factory through a daily rhythm, not random page visits.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822960" y="2487168"/>
            <a:ext cx="10012680" cy="475488"/>
          </a:xfrm>
          <a:prstGeom prst="roundRect">
            <a:avLst>
              <a:gd name="adj" fmla="val 15385"/>
            </a:avLst>
          </a:prstGeom>
          <a:solidFill>
            <a:srgbClr val="233437"/>
          </a:solidFill>
          <a:ln w="10160">
            <a:solidFill>
              <a:srgbClr val="4051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426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B84B"/>
                </a:solidFill>
              </a:rPr>
              <a:t>Morning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31720" y="2633472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7F0F1"/>
                </a:solidFill>
              </a:rPr>
              <a:t>Dashboard → delayed orders → MRP shortages → planning conflicts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10012680" cy="475488"/>
          </a:xfrm>
          <a:prstGeom prst="roundRect">
            <a:avLst>
              <a:gd name="adj" fmla="val 15385"/>
            </a:avLst>
          </a:prstGeom>
          <a:solidFill>
            <a:srgbClr val="233437"/>
          </a:solidFill>
          <a:ln w="10160">
            <a:solidFill>
              <a:srgbClr val="4051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3284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B84B"/>
                </a:solidFill>
              </a:rPr>
              <a:t>During shift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31720" y="3319272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7F0F1"/>
                </a:solidFill>
              </a:rPr>
              <a:t>Production entries → QA inspections → vendor/challan updates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22960" y="3858768"/>
            <a:ext cx="10012680" cy="475488"/>
          </a:xfrm>
          <a:prstGeom prst="roundRect">
            <a:avLst>
              <a:gd name="adj" fmla="val 15385"/>
            </a:avLst>
          </a:prstGeom>
          <a:solidFill>
            <a:srgbClr val="233437"/>
          </a:solidFill>
          <a:ln w="10160">
            <a:solidFill>
              <a:srgbClr val="4051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014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B84B"/>
                </a:solidFill>
              </a:rPr>
              <a:t>End of day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4005072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7F0F1"/>
                </a:solidFill>
              </a:rPr>
              <a:t>Dispatch updates → reports export → exception notes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22960" y="4544568"/>
            <a:ext cx="10012680" cy="475488"/>
          </a:xfrm>
          <a:prstGeom prst="roundRect">
            <a:avLst>
              <a:gd name="adj" fmla="val 15385"/>
            </a:avLst>
          </a:prstGeom>
          <a:solidFill>
            <a:srgbClr val="233437"/>
          </a:solidFill>
          <a:ln w="10160">
            <a:solidFill>
              <a:srgbClr val="4051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7000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B84B"/>
                </a:solidFill>
              </a:rPr>
              <a:t>Weekly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31720" y="4690872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7F0F1"/>
                </a:solidFill>
              </a:rPr>
              <a:t>Style tech-pack hygiene → user/settings audit → release smoke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841248" y="55961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 training activity: give each user one real scenario and ask them to enter, verify, correct, and export it.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2027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FC0C4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YK Apparel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KnitCraft MES Software Training</dc:title>
  <dc:subject>KnitCraft MES training guide</dc:subject>
  <dc:creator>KnitCraft MES</dc:creator>
  <cp:lastModifiedBy>KnitCraft MES</cp:lastModifiedBy>
  <cp:revision>1</cp:revision>
  <dcterms:created xsi:type="dcterms:W3CDTF">2026-06-10T07:20:05Z</dcterms:created>
  <dcterms:modified xsi:type="dcterms:W3CDTF">2026-06-10T07:20:05Z</dcterms:modified>
</cp:coreProperties>
</file>